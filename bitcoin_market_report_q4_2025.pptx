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Market Depth Collapse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Depth ($ Millions)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October 2025</c:v>
                </c:pt>
                <c:pt idx="1">
                  <c:v>November 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700</c:v>
                </c:pt>
                <c:pt idx="1">
                  <c:v>535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Institutional Demand vs. Supply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Institutional Purchases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Daily Average (BTC)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Mined Supply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Daily Average (BTC)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Q4 2025 Bitcoin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Bitcoin corrected from &gt;20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000 to &lt;5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000 in November 2025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Macroeconomic pressures and liquidity crunch drove &gt;20% decline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Rare institutional buying slowdown vs. daily mined supply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Technical breach of 00K support triggered panic cascade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Recovery depends on risk sentiment stabilization and renewed inflows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5029200"/>
            <a:ext cx="2286000" cy="822959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486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Price Drop: -20%+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Causes of the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111"/>
                </a:solidFill>
                <a:latin typeface="Arial"/>
              </a:defRPr>
            </a:pPr>
            <a:r>
              <a:t>Panic Selling by Short-Term Holders</a:t>
            </a:r>
          </a:p>
          <a:p>
            <a:pPr>
              <a:defRPr sz="2200">
                <a:solidFill>
                  <a:srgbClr val="111111"/>
                </a:solidFill>
                <a:latin typeface="Arial"/>
              </a:defRPr>
            </a:pPr>
            <a:r>
              <a:t>Critical Liquidity Crunch</a:t>
            </a:r>
          </a:p>
          <a:p>
            <a:pPr>
              <a:defRPr sz="2200">
                <a:solidFill>
                  <a:srgbClr val="111111"/>
                </a:solidFill>
                <a:latin typeface="Arial"/>
              </a:defRPr>
            </a:pPr>
            <a:r>
              <a:t>Macroeconomic Uncertainty</a:t>
            </a:r>
          </a:p>
          <a:p>
            <a:pPr>
              <a:defRPr sz="2200">
                <a:solidFill>
                  <a:srgbClr val="111111"/>
                </a:solidFill>
                <a:latin typeface="Arial"/>
              </a:defRPr>
            </a:pPr>
            <a:r>
              <a:t>Institutional Buying Slowdown</a:t>
            </a:r>
          </a:p>
          <a:p>
            <a:pPr>
              <a:defRPr sz="2200">
                <a:solidFill>
                  <a:srgbClr val="111111"/>
                </a:solidFill>
                <a:latin typeface="Arial"/>
              </a:defRPr>
            </a:pPr>
            <a:r>
              <a:t>Technical Breakdown &amp; Sentiment Shifts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Panic Selling &amp; Forced Liquidations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0C0"/>
                </a:solidFill>
                <a:latin typeface="Calibri"/>
              </a:defRPr>
            </a:pPr>
            <a:r>
              <a:t>Price Range: 20,000 → 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Short-term holders accelerated selling at a loss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Forced liquidations cascaded through derivatives markets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Long-term holders took minimal profits—no bear market distribution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Deleveraging cleared speculative positions from the system</a:t>
            </a:r>
          </a:p>
        </p:txBody>
      </p:sp>
      <p:sp>
        <p:nvSpPr>
          <p:cNvPr id="6" name="Down Arrow 5"/>
          <p:cNvSpPr/>
          <p:nvPr/>
        </p:nvSpPr>
        <p:spPr>
          <a:xfrm>
            <a:off x="6400800" y="2743200"/>
            <a:ext cx="731520" cy="1028700"/>
          </a:xfrm>
          <a:prstGeom prst="downArrow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Liquidity Shortage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00300"/>
          <a:ext cx="4114800" cy="3086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2743200"/>
            <a:ext cx="320040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Market depth fell from 00M+ to ~35M, creating extreme price vulnerability. Thinner order books amplify volatility and enable cascading sell-offs.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4003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D7D31"/>
                </a:solidFill>
                <a:latin typeface="Calibri"/>
              </a:defRPr>
            </a:pPr>
            <a:r>
              <a:t>-24% Liquidity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Macroeconomic Headwinds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Federal Reserve caution on interest rate cuts rattled risk assets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Inflation resilience and USD strength pressured Bitcoin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US-China trade war fears suppressed global risk appetite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Capital flight from high-risk markets accelerated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4500"/>
            <a:ext cx="8229600" cy="41148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Demand Slowdown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400300"/>
          <a:ext cx="5486400" cy="3086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623559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For the first time in seven months, net institutional purchases fell below daily mined supply. Large players are not absorbing new issuance.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Breakdown &amp;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00000"/>
                </a:solidFill>
                <a:latin typeface="Calibri"/>
              </a:defRPr>
            </a:pPr>
            <a:r>
              <a:t>00,000 Support Breach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Psychological 00K level failure triggered retail panic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Options traders positioned for further downside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Market sentiment: Extreme Fear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Many holders now underwater on cost basis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257800"/>
            <a:ext cx="1371600" cy="54864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715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EXTREME FEAR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2286000" cy="20574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Seasonal &amp; Halving Cycle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November historically Bitcoin's strongest month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Post-halving volatility patterns show mid-cycle dips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Current correction may be healthy position clearing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Consolidation phase likely before potential rebound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5029200"/>
            <a:ext cx="2743200" cy="822959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486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Historical Pattern: Reset → Rally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On-Chain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Coins moving from long-dormant wallets to exchanges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Indicates capitulation by weaker hands—not institutional exodus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ETF inflows from traditional finance have slowed significantly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Selling pressure concentrated in short-term holder cohort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Recovery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070C0"/>
                </a:solidFill>
                <a:latin typeface="Calibri"/>
              </a:defRPr>
            </a:pPr>
            <a:r>
              <a:t>Recovery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861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Stabilization of global risk sentiment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Renewed institutional capital inflows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Macroeconomic policy clarity from Fed</a:t>
            </a:r>
          </a:p>
          <a:p>
            <a:pPr>
              <a:defRPr sz="2000">
                <a:solidFill>
                  <a:srgbClr val="111111"/>
                </a:solidFill>
                <a:latin typeface="Arial"/>
              </a:defRPr>
            </a:pPr>
            <a:r>
              <a:t>Absorption of current supply overhang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143500"/>
            <a:ext cx="6400800" cy="685800"/>
          </a:xfrm>
          <a:prstGeom prst="rect">
            <a:avLst/>
          </a:prstGeom>
          <a:solidFill>
            <a:srgbClr val="2A9D8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349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The downturn reflects market maturation—not structural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11111"/>
                </a:solidFill>
                <a:latin typeface="Calibri"/>
              </a:defRPr>
            </a:pPr>
            <a:r>
              <a:t>Primary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3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595959"/>
                </a:solidFill>
                <a:latin typeface="Calibri"/>
              </a:defRPr>
            </a:pPr>
            <a:r>
              <a:t>Yahoo Finance: Real Reason Behind Bitcoin's Drop\nCNN Business: Bitcoin Price &amp; Crypto Stocks\nBusiness Insider: Why Bitcoin Is Falling\nKi Ecke: Bitcoin Price Outlook November 2025\nThe Motley Fool: 2 Major Factors Driving Decline\n99Bitcoins: Saylor Buys The Dip\nCoinDesk: November Strongest Month Analysis\nFinanceFeeds: Technical Analysis Report Nov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