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t>Market Depth Collapse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Market Depth ($ Millions)</c:v>
                </c:pt>
              </c:strCache>
            </c:strRef>
          </c:tx>
          <c:cat>
            <c:strRef>
              <c:f>Sheet1!$A$2:$A$3</c:f>
              <c:strCache>
                <c:ptCount val="2"/>
                <c:pt idx="0">
                  <c:v>October 2025</c:v>
                </c:pt>
                <c:pt idx="1">
                  <c:v>November 2025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700</c:v>
                </c:pt>
                <c:pt idx="1">
                  <c:v>535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t>Institutional Demand vs. Supply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Institutional Purchases</c:v>
                </c:pt>
              </c:strCache>
            </c:strRef>
          </c:tx>
          <c:cat>
            <c:strRef>
              <c:f>Sheet1!$A$2:$A$2</c:f>
              <c:strCache>
                <c:ptCount val="1"/>
                <c:pt idx="0">
                  <c:v>Daily Average (BTC)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450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Daily Mined Supply</c:v>
                </c:pt>
              </c:strCache>
            </c:strRef>
          </c:tx>
          <c:cat>
            <c:strRef>
              <c:f>Sheet1!$A$2:$A$2</c:f>
              <c:strCache>
                <c:ptCount val="1"/>
                <c:pt idx="0">
                  <c:v>Daily Average (BTC)</c:v>
                </c:pt>
              </c:strCache>
            </c: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900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t>Confidential • Q4 2025 Bitcoin Analysis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t>Confidential • Q4 2025 Bitcoin Analysis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t>Confidential • Q4 2025 Bitcoin Analysis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t>Confidential • Q4 2025 Bitcoin Analysis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t>Confidential • Q4 2025 Bitcoin Analysis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t>Confidential • Q4 2025 Bitcoin Analysis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t>Confidential • Q4 2025 Bitcoin Analysis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t>Confidential • Q4 2025 Bitcoin Analysis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t>Confidential • Q4 2025 Bitcoin Analysis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t>Confidential • Q4 2025 Bitcoin Analysis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t>Confidential • Q4 2025 Bitcoin Analysis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en-US" smtClean="0"/>
              <a:t>Click to edit Master text styles</a:t>
            </a:r>
          </a:p>
          <a:p>
            <a:pPr lvl="1">
              <a:defRPr/>
            </a:pPr>
            <a:r>
              <a:rPr lang="en-US" smtClean="0"/>
              <a:t>Second level</a:t>
            </a:r>
          </a:p>
          <a:p>
            <a:pPr lvl="2">
              <a:defRPr/>
            </a:pPr>
            <a:r>
              <a:rPr lang="en-US" smtClean="0"/>
              <a:t>Third level</a:t>
            </a:r>
          </a:p>
          <a:p>
            <a:pPr lvl="3">
              <a:defRPr/>
            </a:pPr>
            <a:r>
              <a:rPr lang="en-US" smtClean="0"/>
              <a:t>Fourth level</a:t>
            </a:r>
          </a:p>
          <a:p>
            <a:pPr lvl="4">
              <a:defRPr/>
            </a:pPr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Bitcoin Market Analysis: Navigating the Downturn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Executive 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2057400"/>
            <a:ext cx="7315200" cy="3771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111111"/>
                </a:solidFill>
                <a:latin typeface="Arial"/>
              </a:defRPr>
            </a:pPr>
            <a:r>
              <a:t>Bitcoin corrected from &gt;20</a:t>
            </a:r>
          </a:p>
          <a:p>
            <a:pPr>
              <a:defRPr sz="2000">
                <a:solidFill>
                  <a:srgbClr val="111111"/>
                </a:solidFill>
                <a:latin typeface="Arial"/>
              </a:defRPr>
            </a:pPr>
            <a:r>
              <a:t>000 to &lt;5</a:t>
            </a:r>
          </a:p>
          <a:p>
            <a:pPr>
              <a:defRPr sz="2000">
                <a:solidFill>
                  <a:srgbClr val="111111"/>
                </a:solidFill>
                <a:latin typeface="Arial"/>
              </a:defRPr>
            </a:pPr>
            <a:r>
              <a:t>000 in November 2025</a:t>
            </a:r>
          </a:p>
          <a:p>
            <a:pPr>
              <a:defRPr sz="2000">
                <a:solidFill>
                  <a:srgbClr val="111111"/>
                </a:solidFill>
                <a:latin typeface="Arial"/>
              </a:defRPr>
            </a:pPr>
            <a:r>
              <a:t>Macroeconomic pressures and liquidity crunch drove &gt;20% decline</a:t>
            </a:r>
          </a:p>
          <a:p>
            <a:pPr>
              <a:defRPr sz="2000">
                <a:solidFill>
                  <a:srgbClr val="111111"/>
                </a:solidFill>
                <a:latin typeface="Arial"/>
              </a:defRPr>
            </a:pPr>
            <a:r>
              <a:t>Rare institutional buying slowdown vs. daily mined supply</a:t>
            </a:r>
          </a:p>
          <a:p>
            <a:pPr>
              <a:defRPr sz="2000">
                <a:solidFill>
                  <a:srgbClr val="111111"/>
                </a:solidFill>
                <a:latin typeface="Arial"/>
              </a:defRPr>
            </a:pPr>
            <a:r>
              <a:t>Technical breach of 00K support triggered panic cascade</a:t>
            </a:r>
          </a:p>
          <a:p>
            <a:pPr>
              <a:defRPr sz="2000">
                <a:solidFill>
                  <a:srgbClr val="111111"/>
                </a:solidFill>
                <a:latin typeface="Arial"/>
              </a:defRPr>
            </a:pPr>
            <a:r>
              <a:t>Recovery depends on risk sentiment stabilization and renewed inflows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0" y="5029200"/>
            <a:ext cx="2286000" cy="822959"/>
          </a:xfrm>
          <a:prstGeom prst="rect">
            <a:avLst/>
          </a:prstGeom>
          <a:solidFill>
            <a:srgbClr val="ED7D3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0" y="54864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latin typeface="Calibri"/>
              </a:defRPr>
            </a:pPr>
            <a:r>
              <a:t>Price Drop: -20%+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Key Causes of the Downturn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2057400"/>
            <a:ext cx="7315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111111"/>
                </a:solidFill>
                <a:latin typeface="Arial"/>
              </a:defRPr>
            </a:pPr>
            <a:r>
              <a:t>Panic Selling by Short-Term Holders</a:t>
            </a:r>
          </a:p>
          <a:p>
            <a:pPr>
              <a:defRPr sz="2200">
                <a:solidFill>
                  <a:srgbClr val="111111"/>
                </a:solidFill>
                <a:latin typeface="Arial"/>
              </a:defRPr>
            </a:pPr>
            <a:r>
              <a:t>Critical Liquidity Crunch</a:t>
            </a:r>
          </a:p>
          <a:p>
            <a:pPr>
              <a:defRPr sz="2200">
                <a:solidFill>
                  <a:srgbClr val="111111"/>
                </a:solidFill>
                <a:latin typeface="Arial"/>
              </a:defRPr>
            </a:pPr>
            <a:r>
              <a:t>Macroeconomic Uncertainty</a:t>
            </a:r>
          </a:p>
          <a:p>
            <a:pPr>
              <a:defRPr sz="2200">
                <a:solidFill>
                  <a:srgbClr val="111111"/>
                </a:solidFill>
                <a:latin typeface="Arial"/>
              </a:defRPr>
            </a:pPr>
            <a:r>
              <a:t>Institutional Buying Slowdown</a:t>
            </a:r>
          </a:p>
          <a:p>
            <a:pPr>
              <a:defRPr sz="2200">
                <a:solidFill>
                  <a:srgbClr val="111111"/>
                </a:solidFill>
                <a:latin typeface="Arial"/>
              </a:defRPr>
            </a:pPr>
            <a:r>
              <a:t>Technical Breakdown &amp; Sentiment Shifts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Panic Selling &amp; Forced Liquidations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2057400"/>
            <a:ext cx="7315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0070C0"/>
                </a:solidFill>
                <a:latin typeface="Calibri"/>
              </a:defRPr>
            </a:pPr>
            <a:r>
              <a:t>Price Range: 20,000 → 5,000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086100"/>
            <a:ext cx="73152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111111"/>
                </a:solidFill>
                <a:latin typeface="Arial"/>
              </a:defRPr>
            </a:pPr>
            <a:r>
              <a:t>Short-term holders accelerated selling at a loss</a:t>
            </a:r>
          </a:p>
          <a:p>
            <a:pPr>
              <a:defRPr sz="2000">
                <a:solidFill>
                  <a:srgbClr val="111111"/>
                </a:solidFill>
                <a:latin typeface="Arial"/>
              </a:defRPr>
            </a:pPr>
            <a:r>
              <a:t>Forced liquidations cascaded through derivatives markets</a:t>
            </a:r>
          </a:p>
          <a:p>
            <a:pPr>
              <a:defRPr sz="2000">
                <a:solidFill>
                  <a:srgbClr val="111111"/>
                </a:solidFill>
                <a:latin typeface="Arial"/>
              </a:defRPr>
            </a:pPr>
            <a:r>
              <a:t>Long-term holders took minimal profits—no bear market distribution</a:t>
            </a:r>
          </a:p>
          <a:p>
            <a:pPr>
              <a:defRPr sz="2000">
                <a:solidFill>
                  <a:srgbClr val="111111"/>
                </a:solidFill>
                <a:latin typeface="Arial"/>
              </a:defRPr>
            </a:pPr>
            <a:r>
              <a:t>Deleveraging cleared speculative positions from the system</a:t>
            </a:r>
          </a:p>
        </p:txBody>
      </p:sp>
      <p:sp>
        <p:nvSpPr>
          <p:cNvPr id="6" name="Down Arrow 5"/>
          <p:cNvSpPr/>
          <p:nvPr/>
        </p:nvSpPr>
        <p:spPr>
          <a:xfrm>
            <a:off x="6400800" y="2743200"/>
            <a:ext cx="731520" cy="1028700"/>
          </a:xfrm>
          <a:prstGeom prst="downArrow">
            <a:avLst/>
          </a:prstGeom>
          <a:solidFill>
            <a:srgbClr val="C0000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14400" y="1920240"/>
            <a:ext cx="2286000" cy="20574"/>
          </a:xfrm>
          <a:prstGeom prst="rect">
            <a:avLst/>
          </a:prstGeom>
          <a:solidFill>
            <a:srgbClr val="ED7D3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Critical Liquidity Shortage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914400" y="2400300"/>
          <a:ext cx="4114800" cy="30861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303520" y="2743200"/>
            <a:ext cx="3200400" cy="24003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595959"/>
                </a:solidFill>
                <a:latin typeface="Calibri"/>
              </a:defRPr>
            </a:pPr>
            <a:r>
              <a:t>Market depth fell from 00M+ to ~35M, creating extreme price vulnerability. Thinner order books amplify volatility and enable cascading sell-offs.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0" y="2400300"/>
            <a:ext cx="2286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 i="0">
                <a:solidFill>
                  <a:srgbClr val="ED7D31"/>
                </a:solidFill>
                <a:latin typeface="Calibri"/>
              </a:defRPr>
            </a:pPr>
            <a:r>
              <a:t>-24% Liquidity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Macroeconomic Headwinds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2057400"/>
            <a:ext cx="7315200" cy="3429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111111"/>
                </a:solidFill>
                <a:latin typeface="Arial"/>
              </a:defRPr>
            </a:pPr>
            <a:r>
              <a:t>Federal Reserve caution on interest rate cuts rattled risk assets</a:t>
            </a:r>
          </a:p>
          <a:p>
            <a:pPr>
              <a:defRPr sz="2000">
                <a:solidFill>
                  <a:srgbClr val="111111"/>
                </a:solidFill>
                <a:latin typeface="Arial"/>
              </a:defRPr>
            </a:pPr>
            <a:r>
              <a:t>Inflation resilience and USD strength pressured Bitcoin</a:t>
            </a:r>
          </a:p>
          <a:p>
            <a:pPr>
              <a:defRPr sz="2000">
                <a:solidFill>
                  <a:srgbClr val="111111"/>
                </a:solidFill>
                <a:latin typeface="Arial"/>
              </a:defRPr>
            </a:pPr>
            <a:r>
              <a:t>US-China trade war fears suppressed global risk appetite</a:t>
            </a:r>
          </a:p>
          <a:p>
            <a:pPr>
              <a:defRPr sz="2000">
                <a:solidFill>
                  <a:srgbClr val="111111"/>
                </a:solidFill>
                <a:latin typeface="Arial"/>
              </a:defRPr>
            </a:pPr>
            <a:r>
              <a:t>Capital flight from high-risk markets accelerated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714500"/>
            <a:ext cx="8229600" cy="4114800"/>
          </a:xfrm>
          <a:prstGeom prst="rect">
            <a:avLst/>
          </a:prstGeom>
          <a:solidFill>
            <a:srgbClr val="F5F5F5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1920240"/>
            <a:ext cx="2286000" cy="20574"/>
          </a:xfrm>
          <a:prstGeom prst="rect">
            <a:avLst/>
          </a:prstGeom>
          <a:solidFill>
            <a:srgbClr val="ED7D3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Institutional Demand Slowdown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914400" y="2400300"/>
          <a:ext cx="5486400" cy="30861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371600" y="5623559"/>
            <a:ext cx="6400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595959"/>
                </a:solidFill>
                <a:latin typeface="Calibri"/>
              </a:defRPr>
            </a:pPr>
            <a:r>
              <a:t>For the first time in seven months, net institutional purchases fell below daily mined supply. Large players are not absorbing new issuance.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Technical Breakdown &amp; Sentiment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20574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C00000"/>
                </a:solidFill>
                <a:latin typeface="Calibri"/>
              </a:defRPr>
            </a:pPr>
            <a:r>
              <a:t>00,000 Support Breach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086100"/>
            <a:ext cx="73152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111111"/>
                </a:solidFill>
                <a:latin typeface="Arial"/>
              </a:defRPr>
            </a:pPr>
            <a:r>
              <a:t>Psychological 00K level failure triggered retail panic</a:t>
            </a:r>
          </a:p>
          <a:p>
            <a:pPr>
              <a:defRPr sz="2000">
                <a:solidFill>
                  <a:srgbClr val="111111"/>
                </a:solidFill>
                <a:latin typeface="Arial"/>
              </a:defRPr>
            </a:pPr>
            <a:r>
              <a:t>Options traders positioned for further downside</a:t>
            </a:r>
          </a:p>
          <a:p>
            <a:pPr>
              <a:defRPr sz="2000">
                <a:solidFill>
                  <a:srgbClr val="111111"/>
                </a:solidFill>
                <a:latin typeface="Arial"/>
              </a:defRPr>
            </a:pPr>
            <a:r>
              <a:t>Market sentiment: Extreme Fear</a:t>
            </a:r>
          </a:p>
          <a:p>
            <a:pPr>
              <a:defRPr sz="2000">
                <a:solidFill>
                  <a:srgbClr val="111111"/>
                </a:solidFill>
                <a:latin typeface="Arial"/>
              </a:defRPr>
            </a:pPr>
            <a:r>
              <a:t>Many holders now underwater on cost basis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0" y="5257800"/>
            <a:ext cx="1371600" cy="548640"/>
          </a:xfrm>
          <a:prstGeom prst="rect">
            <a:avLst/>
          </a:prstGeom>
          <a:solidFill>
            <a:srgbClr val="C0000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0" y="5715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latin typeface="Calibri"/>
              </a:defRPr>
            </a:pPr>
            <a:r>
              <a:t>EXTREME FEAR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1920240"/>
            <a:ext cx="2286000" cy="20574"/>
          </a:xfrm>
          <a:prstGeom prst="rect">
            <a:avLst/>
          </a:prstGeom>
          <a:solidFill>
            <a:srgbClr val="ED7D3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Seasonal &amp; Halving Cycle Dynamics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2057400"/>
            <a:ext cx="7315200" cy="3429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111111"/>
                </a:solidFill>
                <a:latin typeface="Arial"/>
              </a:defRPr>
            </a:pPr>
            <a:r>
              <a:t>November historically Bitcoin's strongest month</a:t>
            </a:r>
          </a:p>
          <a:p>
            <a:pPr>
              <a:defRPr sz="2000">
                <a:solidFill>
                  <a:srgbClr val="111111"/>
                </a:solidFill>
                <a:latin typeface="Arial"/>
              </a:defRPr>
            </a:pPr>
            <a:r>
              <a:t>Post-halving volatility patterns show mid-cycle dips</a:t>
            </a:r>
          </a:p>
          <a:p>
            <a:pPr>
              <a:defRPr sz="2000">
                <a:solidFill>
                  <a:srgbClr val="111111"/>
                </a:solidFill>
                <a:latin typeface="Arial"/>
              </a:defRPr>
            </a:pPr>
            <a:r>
              <a:t>Current correction may be healthy position clearing</a:t>
            </a:r>
          </a:p>
          <a:p>
            <a:pPr>
              <a:defRPr sz="2000">
                <a:solidFill>
                  <a:srgbClr val="111111"/>
                </a:solidFill>
                <a:latin typeface="Arial"/>
              </a:defRPr>
            </a:pPr>
            <a:r>
              <a:t>Consolidation phase likely before potential rebound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0" y="5029200"/>
            <a:ext cx="2743200" cy="822959"/>
          </a:xfrm>
          <a:prstGeom prst="rect">
            <a:avLst/>
          </a:prstGeom>
          <a:solidFill>
            <a:srgbClr val="70AD47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0" y="54864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latin typeface="Calibri"/>
              </a:defRPr>
            </a:pPr>
            <a:r>
              <a:t>Historical Pattern: Reset → Rally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On-Chain Data Insights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2057400"/>
            <a:ext cx="7315200" cy="3429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111111"/>
                </a:solidFill>
                <a:latin typeface="Arial"/>
              </a:defRPr>
            </a:pPr>
            <a:r>
              <a:t>Coins moving from long-dormant wallets to exchanges</a:t>
            </a:r>
          </a:p>
          <a:p>
            <a:pPr>
              <a:defRPr sz="2000">
                <a:solidFill>
                  <a:srgbClr val="111111"/>
                </a:solidFill>
                <a:latin typeface="Arial"/>
              </a:defRPr>
            </a:pPr>
            <a:r>
              <a:t>Indicates capitulation by weaker hands—not institutional exodus</a:t>
            </a:r>
          </a:p>
          <a:p>
            <a:pPr>
              <a:defRPr sz="2000">
                <a:solidFill>
                  <a:srgbClr val="111111"/>
                </a:solidFill>
                <a:latin typeface="Arial"/>
              </a:defRPr>
            </a:pPr>
            <a:r>
              <a:t>ETF inflows from traditional finance have slowed significantly</a:t>
            </a:r>
          </a:p>
          <a:p>
            <a:pPr>
              <a:defRPr sz="2000">
                <a:solidFill>
                  <a:srgbClr val="111111"/>
                </a:solidFill>
                <a:latin typeface="Arial"/>
              </a:defRPr>
            </a:pPr>
            <a:r>
              <a:t>Selling pressure concentrated in short-term holder cohort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Conclusion &amp; Recovery Outlook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20574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0070C0"/>
                </a:solidFill>
                <a:latin typeface="Calibri"/>
              </a:defRPr>
            </a:pPr>
            <a:r>
              <a:t>Recovery Prerequisites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086100"/>
            <a:ext cx="73152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111111"/>
                </a:solidFill>
                <a:latin typeface="Arial"/>
              </a:defRPr>
            </a:pPr>
            <a:r>
              <a:t>Stabilization of global risk sentiment</a:t>
            </a:r>
          </a:p>
          <a:p>
            <a:pPr>
              <a:defRPr sz="2000">
                <a:solidFill>
                  <a:srgbClr val="111111"/>
                </a:solidFill>
                <a:latin typeface="Arial"/>
              </a:defRPr>
            </a:pPr>
            <a:r>
              <a:t>Renewed institutional capital inflows</a:t>
            </a:r>
          </a:p>
          <a:p>
            <a:pPr>
              <a:defRPr sz="2000">
                <a:solidFill>
                  <a:srgbClr val="111111"/>
                </a:solidFill>
                <a:latin typeface="Arial"/>
              </a:defRPr>
            </a:pPr>
            <a:r>
              <a:t>Macroeconomic policy clarity from Fed</a:t>
            </a:r>
          </a:p>
          <a:p>
            <a:pPr>
              <a:defRPr sz="2000">
                <a:solidFill>
                  <a:srgbClr val="111111"/>
                </a:solidFill>
                <a:latin typeface="Arial"/>
              </a:defRPr>
            </a:pPr>
            <a:r>
              <a:t>Absorption of current supply overhang</a:t>
            </a:r>
          </a:p>
        </p:txBody>
      </p:sp>
      <p:sp>
        <p:nvSpPr>
          <p:cNvPr id="6" name="Rectangle 5"/>
          <p:cNvSpPr/>
          <p:nvPr/>
        </p:nvSpPr>
        <p:spPr>
          <a:xfrm>
            <a:off x="1371600" y="5143500"/>
            <a:ext cx="6400800" cy="685800"/>
          </a:xfrm>
          <a:prstGeom prst="rect">
            <a:avLst/>
          </a:prstGeom>
          <a:solidFill>
            <a:srgbClr val="2A9D8F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828800" y="5349240"/>
            <a:ext cx="5486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latin typeface="Calibri"/>
              </a:defRPr>
            </a:pPr>
            <a:r>
              <a:t>The downturn reflects market maturation—not structural failure.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Sources &amp; 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7145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111111"/>
                </a:solidFill>
                <a:latin typeface="Calibri"/>
              </a:defRPr>
            </a:pPr>
            <a:r>
              <a:t>Primary Sources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400300"/>
            <a:ext cx="7315200" cy="3429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595959"/>
                </a:solidFill>
                <a:latin typeface="Calibri"/>
              </a:defRPr>
            </a:pPr>
            <a:r>
              <a:t>Yahoo Finance: Real Reason Behind Bitcoin's Drop\nCNN Business: Bitcoin Price &amp; Crypto Stocks\nBusiness Insider: Why Bitcoin Is Falling\nKi Ecke: Bitcoin Price Outlook November 2025\nThe Motley Fool: 2 Major Factors Driving Decline\n99Bitcoins: Saylor Buys The Dip\nCoinDesk: November Strongest Month Analysis\nFinanceFeeds: Technical Analysis Report Nov 20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