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Bitcoin Market Report • November 2024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 smtClean="0"/>
              <a:t>Click to edit Master text styles</a:t>
            </a:r>
          </a:p>
          <a:p>
            <a:pPr lvl="1">
              <a:defRPr/>
            </a:pPr>
            <a:r>
              <a:rPr lang="en-US" smtClean="0"/>
              <a:t>Second level</a:t>
            </a:r>
          </a:p>
          <a:p>
            <a:pPr lvl="2">
              <a:defRPr/>
            </a:pPr>
            <a:r>
              <a:rPr lang="en-US" smtClean="0"/>
              <a:t>Third level</a:t>
            </a:r>
          </a:p>
          <a:p>
            <a:pPr lvl="3">
              <a:defRPr/>
            </a:pPr>
            <a:r>
              <a:rPr lang="en-US" smtClean="0"/>
              <a:t>Fourth level</a:t>
            </a:r>
          </a:p>
          <a:p>
            <a:pPr lvl="4">
              <a:defRPr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Bitcoin Market Report: November 2024 Downturn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Macroeconomic Pressures, Market Structure, and Investor Behavior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Recent downturn driven by macroeconomic pressures and market imbalances</a:t>
            </a:r>
          </a:p>
          <a:p>
            <a:pPr>
              <a:defRPr sz="2000"/>
            </a:pPr>
            <a:r>
              <a:t>Sharp decline from above $120K to below $95K</a:t>
            </a:r>
          </a:p>
          <a:p>
            <a:pPr>
              <a:defRPr sz="2000"/>
            </a:pPr>
            <a:r>
              <a:t>Key drivers: panic selling and liquidity crunch</a:t>
            </a:r>
          </a:p>
          <a:p>
            <a:pPr>
              <a:defRPr sz="2000"/>
            </a:pPr>
            <a:r>
              <a:t>Institutional demand slowdown with technical support breakdown</a:t>
            </a:r>
          </a:p>
          <a:p>
            <a:pPr>
              <a:defRPr sz="2000"/>
            </a:pPr>
            <a:r>
              <a:t>Recovery dependent on stabilized risk sentiment and renewed inflows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#1: Panic Selling by Short-Term 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Price acceleration from $120K+ to &lt;$95K driven by short-term holders</a:t>
            </a:r>
          </a:p>
          <a:p>
            <a:pPr>
              <a:defRPr sz="1800"/>
            </a:pPr>
            <a:r>
              <a:t>Selling at a loss triggered forced liquidations and deleveraging</a:t>
            </a:r>
          </a:p>
          <a:p>
            <a:pPr>
              <a:defRPr sz="1800"/>
            </a:pPr>
            <a:r>
              <a:t>Long-term holders took profits but NOT mass distribution</a:t>
            </a:r>
          </a:p>
          <a:p>
            <a:pPr>
              <a:defRPr sz="1800"/>
            </a:pPr>
            <a:r>
              <a:t>Pattern differs from typical bear market cycle tops</a:t>
            </a:r>
          </a:p>
          <a:p>
            <a:pPr>
              <a:defRPr sz="1800"/>
            </a:pPr>
            <a:r>
              <a:t>Short-term holder capitulation signals potential market bottom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5669280"/>
            <a:ext cx="2926080" cy="9144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806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Price Drop: $120K → $95K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#2: Liquidity Crunch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Market depth fell from $700M+ in October to ~$535M</a:t>
            </a:r>
          </a:p>
          <a:p>
            <a:pPr>
              <a:defRPr sz="1800"/>
            </a:pPr>
            <a:r>
              <a:t>Thinner order books increase price vulnerability to large trades</a:t>
            </a:r>
          </a:p>
          <a:p>
            <a:pPr>
              <a:defRPr sz="1800"/>
            </a:pPr>
            <a:r>
              <a:t>Reduced spot and institutional buying weakened market structure</a:t>
            </a:r>
          </a:p>
          <a:p>
            <a:pPr>
              <a:defRPr sz="1800"/>
            </a:pPr>
            <a:r>
              <a:t>Lower liquidity allows sell-offs to cascade more easily</a:t>
            </a:r>
          </a:p>
          <a:p>
            <a:pPr>
              <a:defRPr sz="1800"/>
            </a:pPr>
            <a:r>
              <a:t>Heightened volatility across all trading pairs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4937759"/>
            <a:ext cx="3108960" cy="10287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77840" y="51435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Liquidity: $700M → $535M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#3: Macroeconomic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Federal Reserve caution on interest rate cuts rattled investors</a:t>
            </a:r>
          </a:p>
          <a:p>
            <a:pPr>
              <a:defRPr sz="1800"/>
            </a:pPr>
            <a:r>
              <a:t>Inflation resilience and strong dollar pressure risk assets</a:t>
            </a:r>
          </a:p>
          <a:p>
            <a:pPr>
              <a:defRPr sz="1800"/>
            </a:pPr>
            <a:r>
              <a:t>Trade war fears from renewed US-China tensions</a:t>
            </a:r>
          </a:p>
          <a:p>
            <a:pPr>
              <a:defRPr sz="1800"/>
            </a:pPr>
            <a:r>
              <a:t>Capital pullback from high-risk markets accelerating</a:t>
            </a:r>
          </a:p>
          <a:p>
            <a:pPr>
              <a:defRPr sz="1800"/>
            </a:pPr>
            <a:r>
              <a:t>Bitcoin weakness amplified by broader risk-off sentiment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#4: Institutional Buying Slowdown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Net institutional purchases fell below daily mined supply</a:t>
            </a:r>
          </a:p>
          <a:p>
            <a:pPr>
              <a:defRPr sz="1800"/>
            </a:pPr>
            <a:r>
              <a:t>First occurrence in seven months signals demand weakness</a:t>
            </a:r>
          </a:p>
          <a:p>
            <a:pPr>
              <a:defRPr sz="1800"/>
            </a:pPr>
            <a:r>
              <a:t>Large players no longer absorbing new Bitcoin supply</a:t>
            </a:r>
          </a:p>
          <a:p>
            <a:pPr>
              <a:defRPr sz="1800"/>
            </a:pPr>
            <a:r>
              <a:t>Institutional cash reserves showing signs of depletion</a:t>
            </a:r>
          </a:p>
          <a:p>
            <a:pPr>
              <a:defRPr sz="1800"/>
            </a:pPr>
            <a:r>
              <a:t>Raises risk of deeper corrections without demand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937759"/>
            <a:ext cx="3566160" cy="10287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0" y="514350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First time in 7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Driver #5: Technical Breakdowns &amp; Sentiment Shifts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1714500"/>
            <a:ext cx="768096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Breach of $100K psychological support triggered retail panic</a:t>
            </a:r>
          </a:p>
          <a:p>
            <a:pPr>
              <a:defRPr sz="1800"/>
            </a:pPr>
            <a:r>
              <a:t>Many investors exited positions below their cost basis</a:t>
            </a:r>
          </a:p>
          <a:p>
            <a:pPr>
              <a:defRPr sz="1800"/>
            </a:pPr>
            <a:r>
              <a:t>Extreme fear levels in market sentiment indicators</a:t>
            </a:r>
          </a:p>
          <a:p>
            <a:pPr>
              <a:defRPr sz="1800"/>
            </a:pPr>
            <a:r>
              <a:t>Options and derivatives traders positioned for further downside</a:t>
            </a:r>
          </a:p>
          <a:p>
            <a:pPr>
              <a:defRPr sz="1800"/>
            </a:pPr>
            <a:r>
              <a:t>Technical weakness reinforcing negative sentiment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4937759"/>
            <a:ext cx="2926080" cy="1028700"/>
          </a:xfrm>
          <a:prstGeom prst="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0" y="51435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Support Break: $100K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 Context &amp; Historical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62000" y="17145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70C0"/>
                </a:solidFill>
                <a:latin typeface="Calibri"/>
              </a:defRPr>
            </a:pPr>
            <a:r>
              <a:t>Seasonal &amp; Halving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286000"/>
            <a:ext cx="3657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November historically strong for Bitcoin</a:t>
            </a:r>
          </a:p>
          <a:p>
            <a:pPr>
              <a:defRPr sz="1600"/>
            </a:pPr>
            <a:r>
              <a:t>Post-halving volatility expected</a:t>
            </a:r>
          </a:p>
          <a:p>
            <a:pPr>
              <a:defRPr sz="1600"/>
            </a:pPr>
            <a:r>
              <a:t>Mid-cycle dip may be healthy reset</a:t>
            </a:r>
          </a:p>
          <a:p>
            <a:pPr>
              <a:defRPr sz="1600"/>
            </a:pPr>
            <a:r>
              <a:t>Clearing leveraged positions</a:t>
            </a:r>
          </a:p>
          <a:p>
            <a:pPr>
              <a:defRPr sz="1600"/>
            </a:pPr>
            <a:r>
              <a:t>Potential consolidation 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0" y="17145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070C0"/>
                </a:solidFill>
                <a:latin typeface="Calibri"/>
              </a:defRPr>
            </a:pPr>
            <a:r>
              <a:t>On-Chain Data Signals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0" y="2286000"/>
            <a:ext cx="3657600" cy="3771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Dormant wallets moving to exchanges</a:t>
            </a:r>
          </a:p>
          <a:p>
            <a:pPr>
              <a:defRPr sz="1600"/>
            </a:pPr>
            <a:r>
              <a:t>Capitulation by weaker hands</a:t>
            </a:r>
          </a:p>
          <a:p>
            <a:pPr>
              <a:defRPr sz="1600"/>
            </a:pPr>
            <a:r>
              <a:t>NOT mass exodus by long-term holders</a:t>
            </a:r>
          </a:p>
          <a:p>
            <a:pPr>
              <a:defRPr sz="1600"/>
            </a:pPr>
            <a:r>
              <a:t>ETF flows and inflows slowed</a:t>
            </a:r>
          </a:p>
          <a:p>
            <a:pPr>
              <a:defRPr sz="1600"/>
            </a:pPr>
            <a:r>
              <a:t>Traditional finance channels weakening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Conclusion: Path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19" y="2057400"/>
            <a:ext cx="7680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Downturn driven by multiple intersecting factors—not isolated events</a:t>
            </a:r>
          </a:p>
          <a:p>
            <a:pPr>
              <a:defRPr sz="1800"/>
            </a:pPr>
            <a:r>
              <a:t>Macro headwinds + liquidity crunch + institutional slowdown</a:t>
            </a:r>
          </a:p>
          <a:p>
            <a:pPr>
              <a:defRPr sz="1800"/>
            </a:pPr>
            <a:r>
              <a:t>Technical breakdown at $100K accelerated the correction</a:t>
            </a:r>
          </a:p>
          <a:p>
            <a:pPr>
              <a:defRPr sz="1800"/>
            </a:pPr>
            <a:r>
              <a:t>Market absorbing losses and clearing weak positions</a:t>
            </a:r>
          </a:p>
          <a:p>
            <a:pPr>
              <a:defRPr sz="1800"/>
            </a:pPr>
            <a:r>
              <a:t>Recovery requires renewed institutional inflows and stabilized sentiment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