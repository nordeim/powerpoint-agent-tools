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Bitcoin Market Report • November 2024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Bitcoin Market Report • November 2024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Bitcoin Market Report • November 2024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Bitcoin Market Report • November 2024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Bitcoin Market Report • November 2024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Bitcoin Market Report • November 2024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Bitcoin Market Report • November 2024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Bitcoin Market Report • November 2024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Bitcoin Market Report • November 2024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Bitcoin Market Report • November 2024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Bitcoin Market Report • November 2024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en-US" smtClean="0"/>
              <a:t>Click to edit Master text styles</a:t>
            </a:r>
          </a:p>
          <a:p>
            <a:pPr lvl="1">
              <a:defRPr/>
            </a:pPr>
            <a:r>
              <a:rPr lang="en-US" smtClean="0"/>
              <a:t>Second level</a:t>
            </a:r>
          </a:p>
          <a:p>
            <a:pPr lvl="2">
              <a:defRPr/>
            </a:pPr>
            <a:r>
              <a:rPr lang="en-US" smtClean="0"/>
              <a:t>Third level</a:t>
            </a:r>
          </a:p>
          <a:p>
            <a:pPr lvl="3">
              <a:defRPr/>
            </a:pPr>
            <a:r>
              <a:rPr lang="en-US" smtClean="0"/>
              <a:t>Fourth level</a:t>
            </a:r>
          </a:p>
          <a:p>
            <a:pPr lvl="4">
              <a:defRPr/>
            </a:pPr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Bitcoin Market Report: November 2024 Downturn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Executive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31520" y="1714500"/>
            <a:ext cx="76809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/>
            </a:pPr>
            <a:r>
              <a:t>Recent downturn driven by macroeconomic pressures and market imbalances</a:t>
            </a:r>
          </a:p>
          <a:p>
            <a:pPr>
              <a:defRPr sz="2000"/>
            </a:pPr>
            <a:r>
              <a:t>Sharp decline from above $120K to below $95K</a:t>
            </a:r>
          </a:p>
          <a:p>
            <a:pPr>
              <a:defRPr sz="2000"/>
            </a:pPr>
            <a:r>
              <a:t>Key drivers: panic selling and liquidity crunch</a:t>
            </a:r>
          </a:p>
          <a:p>
            <a:pPr>
              <a:defRPr sz="2000"/>
            </a:pPr>
            <a:r>
              <a:t>Institutional demand slowdown with technical support breakdown</a:t>
            </a:r>
          </a:p>
          <a:p>
            <a:pPr>
              <a:defRPr sz="2000"/>
            </a:pPr>
            <a:r>
              <a:t>Recovery dependent on stabilized risk sentiment and renewed inflows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309360"/>
            <a:ext cx="54864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595959"/>
                </a:solidFill>
                <a:latin typeface="Calibri"/>
              </a:defRPr>
            </a:pPr>
            <a:r>
              <a:t>Bitcoin Market Report • November 2024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6309360"/>
            <a:ext cx="4572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595959"/>
                </a:solidFill>
                <a:latin typeface="Calibri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Driver #1: Panic Selling by Short-Term Holders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31520" y="1714500"/>
            <a:ext cx="76809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Price acceleration from $120K+ to &lt;$95K driven by short-term holders</a:t>
            </a:r>
          </a:p>
          <a:p>
            <a:pPr>
              <a:defRPr sz="1800"/>
            </a:pPr>
            <a:r>
              <a:t>Selling at a loss triggered forced liquidations and deleveraging</a:t>
            </a:r>
          </a:p>
          <a:p>
            <a:pPr>
              <a:defRPr sz="1800"/>
            </a:pPr>
            <a:r>
              <a:t>Long-term holders took profits but NOT mass distribution</a:t>
            </a:r>
          </a:p>
          <a:p>
            <a:pPr>
              <a:defRPr sz="1800"/>
            </a:pPr>
            <a:r>
              <a:t>Pattern differs from typical bear market cycle tops</a:t>
            </a:r>
          </a:p>
          <a:p>
            <a:pPr>
              <a:defRPr sz="1800"/>
            </a:pPr>
            <a:r>
              <a:t>Short-term holder capitulation signals potential market bottom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0" y="4937759"/>
            <a:ext cx="2926080" cy="1028700"/>
          </a:xfrm>
          <a:prstGeom prst="rect">
            <a:avLst/>
          </a:prstGeom>
          <a:solidFill>
            <a:srgbClr val="ED7D3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760720" y="514350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FFFFFF"/>
                </a:solidFill>
                <a:latin typeface="Calibri"/>
              </a:defRPr>
            </a:pPr>
            <a:r>
              <a:t>Price Drop: $120K → $95K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309360"/>
            <a:ext cx="54864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595959"/>
                </a:solidFill>
                <a:latin typeface="Calibri"/>
              </a:defRPr>
            </a:pPr>
            <a:r>
              <a:t>Bitcoin Market Report • November 2024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0" y="6309360"/>
            <a:ext cx="4572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595959"/>
                </a:solidFill>
                <a:latin typeface="Calibr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Driver #2: Liquidity Crunch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31520" y="1714500"/>
            <a:ext cx="76809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Market depth fell from $700M+ in October to ~$535M</a:t>
            </a:r>
          </a:p>
          <a:p>
            <a:pPr>
              <a:defRPr sz="1800"/>
            </a:pPr>
            <a:r>
              <a:t>Thinner order books increase price vulnerability to large trades</a:t>
            </a:r>
          </a:p>
          <a:p>
            <a:pPr>
              <a:defRPr sz="1800"/>
            </a:pPr>
            <a:r>
              <a:t>Reduced spot and institutional buying weakened market structure</a:t>
            </a:r>
          </a:p>
          <a:p>
            <a:pPr>
              <a:defRPr sz="1800"/>
            </a:pPr>
            <a:r>
              <a:t>Lower liquidity allows sell-offs to cascade more easily</a:t>
            </a:r>
          </a:p>
          <a:p>
            <a:pPr>
              <a:defRPr sz="1800"/>
            </a:pPr>
            <a:r>
              <a:t>Heightened volatility across all trading pairs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0" y="4937759"/>
            <a:ext cx="3108960" cy="1028700"/>
          </a:xfrm>
          <a:prstGeom prst="rect">
            <a:avLst/>
          </a:prstGeom>
          <a:solidFill>
            <a:srgbClr val="ED7D3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577840" y="514350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FFFFFF"/>
                </a:solidFill>
                <a:latin typeface="Calibri"/>
              </a:defRPr>
            </a:pPr>
            <a:r>
              <a:t>Liquidity: $700M → $535M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309360"/>
            <a:ext cx="54864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595959"/>
                </a:solidFill>
                <a:latin typeface="Calibri"/>
              </a:defRPr>
            </a:pPr>
            <a:r>
              <a:t>Bitcoin Market Report • November 2024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0" y="6309360"/>
            <a:ext cx="4572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595959"/>
                </a:solidFill>
                <a:latin typeface="Calibri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Driver #3: Macroeconomic Uncertainty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31520" y="1714500"/>
            <a:ext cx="76809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Federal Reserve caution on interest rate cuts rattled investors</a:t>
            </a:r>
          </a:p>
          <a:p>
            <a:pPr>
              <a:defRPr sz="1800"/>
            </a:pPr>
            <a:r>
              <a:t>Inflation resilience and strong dollar pressure risk assets</a:t>
            </a:r>
          </a:p>
          <a:p>
            <a:pPr>
              <a:defRPr sz="1800"/>
            </a:pPr>
            <a:r>
              <a:t>Trade war fears from renewed US-China tensions</a:t>
            </a:r>
          </a:p>
          <a:p>
            <a:pPr>
              <a:defRPr sz="1800"/>
            </a:pPr>
            <a:r>
              <a:t>Capital pullback from high-risk markets accelerating</a:t>
            </a:r>
          </a:p>
          <a:p>
            <a:pPr>
              <a:defRPr sz="1800"/>
            </a:pPr>
            <a:r>
              <a:t>Bitcoin weakness amplified by broader risk-off sentiment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309360"/>
            <a:ext cx="54864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595959"/>
                </a:solidFill>
                <a:latin typeface="Calibri"/>
              </a:defRPr>
            </a:pPr>
            <a:r>
              <a:t>Bitcoin Market Report • November 2024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6309360"/>
            <a:ext cx="4572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595959"/>
                </a:solidFill>
                <a:latin typeface="Calibri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Driver #4: Institutional Buying Slowdown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31520" y="1714500"/>
            <a:ext cx="76809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Net institutional purchases fell below daily mined supply</a:t>
            </a:r>
          </a:p>
          <a:p>
            <a:pPr>
              <a:defRPr sz="1800"/>
            </a:pPr>
            <a:r>
              <a:t>First occurrence in seven months signals demand weakness</a:t>
            </a:r>
          </a:p>
          <a:p>
            <a:pPr>
              <a:defRPr sz="1800"/>
            </a:pPr>
            <a:r>
              <a:t>Large players no longer absorbing new Bitcoin supply</a:t>
            </a:r>
          </a:p>
          <a:p>
            <a:pPr>
              <a:defRPr sz="1800"/>
            </a:pPr>
            <a:r>
              <a:t>Institutional cash reserves showing signs of depletion</a:t>
            </a:r>
          </a:p>
          <a:p>
            <a:pPr>
              <a:defRPr sz="1800"/>
            </a:pPr>
            <a:r>
              <a:t>Raises risk of deeper corrections without demand recovery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0" y="4937759"/>
            <a:ext cx="3566160" cy="1028700"/>
          </a:xfrm>
          <a:prstGeom prst="rect">
            <a:avLst/>
          </a:prstGeom>
          <a:solidFill>
            <a:srgbClr val="ED7D3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120640" y="5143500"/>
            <a:ext cx="3383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FFFFFF"/>
                </a:solidFill>
                <a:latin typeface="Calibri"/>
              </a:defRPr>
            </a:pPr>
            <a:r>
              <a:t>First time in 7 months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309360"/>
            <a:ext cx="54864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595959"/>
                </a:solidFill>
                <a:latin typeface="Calibri"/>
              </a:defRPr>
            </a:pPr>
            <a:r>
              <a:t>Bitcoin Market Report • November 2024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0" y="6309360"/>
            <a:ext cx="4572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595959"/>
                </a:solidFill>
                <a:latin typeface="Calibr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Driver #5: Technical Breakdowns &amp; Sentiment Shifts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31520" y="1714500"/>
            <a:ext cx="76809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Breach of $100K psychological support triggered retail panic</a:t>
            </a:r>
          </a:p>
          <a:p>
            <a:pPr>
              <a:defRPr sz="1800"/>
            </a:pPr>
            <a:r>
              <a:t>Many investors exited positions below their cost basis</a:t>
            </a:r>
          </a:p>
          <a:p>
            <a:pPr>
              <a:defRPr sz="1800"/>
            </a:pPr>
            <a:r>
              <a:t>Extreme fear levels in market sentiment indicators</a:t>
            </a:r>
          </a:p>
          <a:p>
            <a:pPr>
              <a:defRPr sz="1800"/>
            </a:pPr>
            <a:r>
              <a:t>Options and derivatives traders positioned for further downside</a:t>
            </a:r>
          </a:p>
          <a:p>
            <a:pPr>
              <a:defRPr sz="1800"/>
            </a:pPr>
            <a:r>
              <a:t>Technical weakness reinforcing negative sentiment loop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0" y="4937759"/>
            <a:ext cx="2926080" cy="1028700"/>
          </a:xfrm>
          <a:prstGeom prst="rect">
            <a:avLst/>
          </a:prstGeom>
          <a:solidFill>
            <a:srgbClr val="ED7D3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760720" y="514350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FFFFFF"/>
                </a:solidFill>
                <a:latin typeface="Calibri"/>
              </a:defRPr>
            </a:pPr>
            <a:r>
              <a:t>Support Break: $100K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309360"/>
            <a:ext cx="54864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595959"/>
                </a:solidFill>
                <a:latin typeface="Calibri"/>
              </a:defRPr>
            </a:pPr>
            <a:r>
              <a:t>Bitcoin Market Report • November 2024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0" y="6309360"/>
            <a:ext cx="4572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595959"/>
                </a:solidFill>
                <a:latin typeface="Calibri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Market Context &amp; Historical Patterns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31520" y="150876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 i="0">
                <a:solidFill>
                  <a:srgbClr val="0070C0"/>
                </a:solidFill>
                <a:latin typeface="Calibri"/>
              </a:defRPr>
            </a:pPr>
            <a:r>
              <a:t>Seasonal &amp; Halving Cycles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94560"/>
            <a:ext cx="365760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/>
            </a:pPr>
            <a:r>
              <a:t>November historically strong for Bitcoin</a:t>
            </a:r>
          </a:p>
          <a:p>
            <a:pPr>
              <a:defRPr sz="1600"/>
            </a:pPr>
            <a:r>
              <a:t>Post-halving volatility expected</a:t>
            </a:r>
          </a:p>
          <a:p>
            <a:pPr>
              <a:defRPr sz="1600"/>
            </a:pPr>
            <a:r>
              <a:t>Mid-cycle dip may be healthy reset</a:t>
            </a:r>
          </a:p>
          <a:p>
            <a:pPr>
              <a:defRPr sz="1600"/>
            </a:pPr>
            <a:r>
              <a:t>Clearing leveraged positions</a:t>
            </a:r>
          </a:p>
          <a:p>
            <a:pPr>
              <a:defRPr sz="1600"/>
            </a:pPr>
            <a:r>
              <a:t>Potential consolidation phase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0" y="150876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 i="0">
                <a:solidFill>
                  <a:srgbClr val="0070C0"/>
                </a:solidFill>
                <a:latin typeface="Calibri"/>
              </a:defRPr>
            </a:pPr>
            <a:r>
              <a:t>On-Chain Data Signals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0" y="2194560"/>
            <a:ext cx="365760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/>
            </a:pPr>
            <a:r>
              <a:t>Dormant wallets moving to exchanges</a:t>
            </a:r>
          </a:p>
          <a:p>
            <a:pPr>
              <a:defRPr sz="1600"/>
            </a:pPr>
            <a:r>
              <a:t>Capitulation by weaker hands</a:t>
            </a:r>
          </a:p>
          <a:p>
            <a:pPr>
              <a:defRPr sz="1600"/>
            </a:pPr>
            <a:r>
              <a:t>NOT mass exodus by long-term holders</a:t>
            </a:r>
          </a:p>
          <a:p>
            <a:pPr>
              <a:defRPr sz="1600"/>
            </a:pPr>
            <a:r>
              <a:t>ETF flows and inflows slowed</a:t>
            </a:r>
          </a:p>
          <a:p>
            <a:pPr>
              <a:defRPr sz="1600"/>
            </a:pPr>
            <a:r>
              <a:t>Traditional finance channels weakening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309360"/>
            <a:ext cx="54864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595959"/>
                </a:solidFill>
                <a:latin typeface="Calibri"/>
              </a:defRPr>
            </a:pPr>
            <a:r>
              <a:t>Bitcoin Market Report • November 2024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6309360"/>
            <a:ext cx="4572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595959"/>
                </a:solidFill>
                <a:latin typeface="Calibri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Conclusion: Path Forward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31520" y="1714500"/>
            <a:ext cx="76809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Downturn driven by multiple intersecting factors—not isolated events</a:t>
            </a:r>
          </a:p>
          <a:p>
            <a:pPr>
              <a:defRPr sz="1800"/>
            </a:pPr>
            <a:r>
              <a:t>Macro headwinds + liquidity crunch + institutional slowdown</a:t>
            </a:r>
          </a:p>
          <a:p>
            <a:pPr>
              <a:defRPr sz="1800"/>
            </a:pPr>
            <a:r>
              <a:t>Technical breakdown at $100K accelerated the correction</a:t>
            </a:r>
          </a:p>
          <a:p>
            <a:pPr>
              <a:defRPr sz="1800"/>
            </a:pPr>
            <a:r>
              <a:t>Market absorbing losses and clearing weak positions</a:t>
            </a:r>
          </a:p>
          <a:p>
            <a:pPr>
              <a:defRPr sz="1800"/>
            </a:pPr>
            <a:r>
              <a:t>Recovery requires renewed institutional inflows and stabilized sentiment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309360"/>
            <a:ext cx="54864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595959"/>
                </a:solidFill>
                <a:latin typeface="Calibri"/>
              </a:defRPr>
            </a:pPr>
            <a:r>
              <a:t>Bitcoin Market Report • November 2024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6309360"/>
            <a:ext cx="4572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595959"/>
                </a:solidFill>
                <a:latin typeface="Calibri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