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Confidential • 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 smtClean="0"/>
              <a:t>Click to edit Master text styles</a:t>
            </a:r>
          </a:p>
          <a:p>
            <a:pPr lvl="1">
              <a:defRPr/>
            </a:pPr>
            <a:r>
              <a:rPr lang="en-US" smtClean="0"/>
              <a:t>Second level</a:t>
            </a:r>
          </a:p>
          <a:p>
            <a:pPr lvl="2">
              <a:defRPr/>
            </a:pPr>
            <a:r>
              <a:rPr lang="en-US" smtClean="0"/>
              <a:t>Third level</a:t>
            </a:r>
          </a:p>
          <a:p>
            <a:pPr lvl="3">
              <a:defRPr/>
            </a:pPr>
            <a:r>
              <a:rPr lang="en-US" smtClean="0"/>
              <a:t>Fourth level</a:t>
            </a:r>
          </a:p>
          <a:p>
            <a:pPr lvl="4">
              <a:defRPr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  <a:latin typeface="Arial"/>
              </a:defRPr>
            </a:pPr>
            <a:r>
              <a:t>Bitcoin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595959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ED7D31"/>
          </a:solidFill>
          <a:ln w="25400">
            <a:solidFill>
              <a:srgbClr val="C65911"/>
            </a:solidFill>
          </a:ln>
        </p:spPr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Sharp correction from $120K+ to sub-$95K driven by multi-factor convergence</a:t>
            </a:r>
          </a:p>
          <a:p>
            <a:pPr>
              <a:defRPr sz="1800"/>
            </a:pPr>
            <a:r>
              <a:t>Short-term holder panic selling accelerated technical breakdowns</a:t>
            </a:r>
          </a:p>
          <a:p>
            <a:pPr>
              <a:defRPr sz="1800"/>
            </a:pPr>
            <a:r>
              <a:t>Liquidity crunch reduced market depth by 24% in recent weeks</a:t>
            </a:r>
          </a:p>
          <a:p>
            <a:pPr>
              <a:defRPr sz="1800"/>
            </a:pPr>
            <a:r>
              <a:t>Institutional buying slowdown below daily mined supply levels</a:t>
            </a:r>
          </a:p>
          <a:p>
            <a:pPr>
              <a:defRPr sz="1800"/>
            </a:pPr>
            <a:r>
              <a:t>Macro uncertainty (Fed policy, trade tensions) suppressed risk appetite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59" y="1645919"/>
            <a:ext cx="7498079" cy="425196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Key Drivers of the Downturn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Panic Selling by Short-Term Holders</a:t>
            </a:r>
          </a:p>
          <a:p>
            <a:pPr>
              <a:defRPr sz="1800"/>
            </a:pPr>
            <a:r>
              <a:t>Liquidity Crunch &amp; Market Depth Erosion</a:t>
            </a:r>
          </a:p>
          <a:p>
            <a:pPr>
              <a:defRPr sz="1800"/>
            </a:pPr>
            <a:r>
              <a:t>Macroeconomic Uncertainty (Fed Policy, Trade Wars)</a:t>
            </a:r>
          </a:p>
          <a:p>
            <a:pPr>
              <a:defRPr sz="1800"/>
            </a:pPr>
            <a:r>
              <a:t>Institutional Buying Slowdown</a:t>
            </a:r>
          </a:p>
          <a:p>
            <a:pPr>
              <a:defRPr sz="1800"/>
            </a:pPr>
            <a:r>
              <a:t>Technical Breakdowns &amp; Sentiment Shifts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Panic Selling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Short-term holders triggered cascading liquidations below $100K support. Long-term holders maintained positions, indicating this isn't a bear market top distribution pattern.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Price drop: $120,000 → $95,000 in rapid succession</a:t>
            </a:r>
          </a:p>
          <a:p>
            <a:pPr>
              <a:defRPr sz="1800"/>
            </a:pPr>
            <a:r>
              <a:t>Forced liquidations amplified initial selling pressure</a:t>
            </a:r>
          </a:p>
          <a:p>
            <a:pPr>
              <a:defRPr sz="1800"/>
            </a:pPr>
            <a:r>
              <a:t>Long-term holders taking profits but not mass distributing</a:t>
            </a:r>
          </a:p>
          <a:p>
            <a:pPr>
              <a:defRPr sz="1800"/>
            </a:pPr>
            <a:r>
              <a:t>Retail panic accelerated after $100K psychological break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Liquidity Crunch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Market depth fell from $700M to $535M, increasing vulnerability to large trades and volatility spikes. Reduced institutional participation created thinner order books.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24% decline in market depth over 4 weeks</a:t>
            </a:r>
          </a:p>
          <a:p>
            <a:pPr>
              <a:defRPr sz="1800"/>
            </a:pPr>
            <a:r>
              <a:t>Spot market buying activity significantly reduced</a:t>
            </a:r>
          </a:p>
          <a:p>
            <a:pPr>
              <a:defRPr sz="1800"/>
            </a:pPr>
            <a:r>
              <a:t>Institutional participation slowed across major venues</a:t>
            </a:r>
          </a:p>
          <a:p>
            <a:pPr>
              <a:defRPr sz="1800"/>
            </a:pPr>
            <a:r>
              <a:t>Thin liquidity enables cascading sell-offs from single trades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Macroeconomic Pressures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Federal Reserve's cautious stance on rate cuts rattled risk assets. Strong dollar and inflation resilience further pressured Bitcoin, compounded by US-China trade war fears.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Fed delaying rate cuts despite market expectations</a:t>
            </a:r>
          </a:p>
          <a:p>
            <a:pPr>
              <a:defRPr sz="1800"/>
            </a:pPr>
            <a:r>
              <a:t>Strong USD and persistent inflation data</a:t>
            </a:r>
          </a:p>
          <a:p>
            <a:pPr>
              <a:defRPr sz="1800"/>
            </a:pPr>
            <a:r>
              <a:t>Renewed US-China trade tensions suppressed risk appetite</a:t>
            </a:r>
          </a:p>
          <a:p>
            <a:pPr>
              <a:defRPr sz="1800"/>
            </a:pPr>
            <a:r>
              <a:t>Capital rotation from high-risk to defensive assets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Institutional Demand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Net institutional purchases fell below daily mined supply for first time in 7 months. Large players not absorbing new supply creates downward pressure on price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ETF flows and institutional buying slowed significantly</a:t>
            </a:r>
          </a:p>
          <a:p>
            <a:pPr>
              <a:defRPr sz="1800"/>
            </a:pPr>
            <a:r>
              <a:t>Daily mined supply: ~900 BTC vs institutional demand gap</a:t>
            </a:r>
          </a:p>
          <a:p>
            <a:pPr>
              <a:defRPr sz="1800"/>
            </a:pPr>
            <a:r>
              <a:t>Risk of deeper correction if cash reserves dwindle</a:t>
            </a:r>
          </a:p>
          <a:p>
            <a:pPr>
              <a:defRPr sz="1800"/>
            </a:pPr>
            <a:r>
              <a:t>Traditional finance channels showing reduced participation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Technical &amp; Sentiment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Breach of $100K support triggered retail panic and algorithmic selling. Options markets positioned for further downside with extreme fear sentiment readings.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$100K psychological support broken decisively</a:t>
            </a:r>
          </a:p>
          <a:p>
            <a:pPr>
              <a:defRPr sz="1800"/>
            </a:pPr>
            <a:r>
              <a:t>Options traders positioned for continued downside</a:t>
            </a:r>
          </a:p>
          <a:p>
            <a:pPr>
              <a:defRPr sz="1800"/>
            </a:pPr>
            <a:r>
              <a:t>Market sentiment indicators show extreme fear levels</a:t>
            </a:r>
          </a:p>
          <a:p>
            <a:pPr>
              <a:defRPr sz="1800"/>
            </a:pPr>
            <a:r>
              <a:t>Derivatives funding rates turned deeply negative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Seasonal &amp; Cycle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November historically strong for Bitcoin post-halving. Current correction may represent healthy reset clearing leveraged positions before consolidation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November typically Bitcoin's strongest monthly performance</a:t>
            </a:r>
          </a:p>
          <a:p>
            <a:pPr>
              <a:defRPr sz="1800"/>
            </a:pPr>
            <a:r>
              <a:t>Post-halving volatility normal in mid-cycle phase</a:t>
            </a:r>
          </a:p>
          <a:p>
            <a:pPr>
              <a:defRPr sz="1800"/>
            </a:pPr>
            <a:r>
              <a:t>Current dip resembles historical consolidation patterns</a:t>
            </a:r>
          </a:p>
          <a:p>
            <a:pPr>
              <a:defRPr sz="1800"/>
            </a:pPr>
            <a:r>
              <a:t>Healthy reset clearing excessive leverage from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On-Chain Market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On-chain data shows coins moving from dormant wallets to exchanges - indicating capitulation by weaker hands rather than foundational investor exodus.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Increased movement from long-dormant wallets to exchanges</a:t>
            </a:r>
          </a:p>
          <a:p>
            <a:pPr>
              <a:defRPr sz="1800"/>
            </a:pPr>
            <a:r>
              <a:t>Capitulation pattern typical of late-cycle corrections</a:t>
            </a:r>
          </a:p>
          <a:p>
            <a:pPr>
              <a:defRPr sz="1800"/>
            </a:pPr>
            <a:r>
              <a:t>Foundational investors maintaining core positions</a:t>
            </a:r>
          </a:p>
          <a:p>
            <a:pPr>
              <a:defRPr sz="1800"/>
            </a:pPr>
            <a:r>
              <a:t>Exchange inflows concentrated among short-term holders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Conclusion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7145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The correction reflects multi-factor convergence rather than single cause. Recovery requires renewed institutional inflows and stabilization in global risk sentiment.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Not indicative of bear market cycle top based on holder behavior</a:t>
            </a:r>
          </a:p>
          <a:p>
            <a:pPr>
              <a:defRPr sz="1800"/>
            </a:pPr>
            <a:r>
              <a:t>Healthy consolidation phase after rapid parabolic move</a:t>
            </a:r>
          </a:p>
          <a:p>
            <a:pPr>
              <a:defRPr sz="1800"/>
            </a:pPr>
            <a:r>
              <a:t>Critical watch: institutional buying resumption patterns</a:t>
            </a:r>
          </a:p>
          <a:p>
            <a:pPr>
              <a:defRPr sz="1800"/>
            </a:pPr>
            <a:r>
              <a:t>Recovery catalyst: Fed policy pivot or macro stabilization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  <a:latin typeface="Arial"/>
              </a:defRPr>
            </a:pPr>
            <a:r>
              <a:t>References &amp;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11111"/>
                </a:solidFill>
                <a:latin typeface="Arial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7315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latin typeface="Calibri"/>
              </a:defRPr>
            </a:pPr>
            <a:r>
              <a:t>1. Yahoo Finance • 2. CNN Business • 3. Business Insider • 4. Ki-Ecke</a:t>
            </a:r>
          </a:p>
          <a:p>
            <a:r>
              <a:t>5. The Motley Fool • 6. 99 Bitcoins • 7. CoinDesk • 8. Finance Feeds</a:t>
            </a:r>
          </a:p>
          <a:p>
            <a:r>
              <a:t>9. Perplexity.ai • 10. Reuters • 11. Yahoo Finance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