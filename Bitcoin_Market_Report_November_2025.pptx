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Analysis • November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Bitcoin Market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Understanding the Recent Price Downturn</a:t>
            </a:r>
          </a:p>
          <a:p>
            <a:pPr>
              <a:defRPr sz="2400">
                <a:solidFill>
                  <a:srgbClr val="595959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11111"/>
                </a:solidFill>
              </a:defRPr>
            </a:pPr>
            <a:r>
              <a:t>Bitcoin fell from $120K to $95K amid panic selling and technical breakdowns</a:t>
            </a:r>
          </a:p>
          <a:p>
            <a:pPr>
              <a:defRPr sz="1800">
                <a:solidFill>
                  <a:srgbClr val="111111"/>
                </a:solidFill>
              </a:defRPr>
            </a:pPr>
            <a:r>
              <a:t>Liquidity thinned: market depth dropped from $700M to $535M</a:t>
            </a:r>
          </a:p>
          <a:p>
            <a:pPr>
              <a:defRPr sz="1800">
                <a:solidFill>
                  <a:srgbClr val="111111"/>
                </a:solidFill>
              </a:defRPr>
            </a:pPr>
            <a:r>
              <a:t>Institutional demand weakened: net purchases below daily mined supply</a:t>
            </a:r>
          </a:p>
          <a:p>
            <a:pPr>
              <a:defRPr sz="1800">
                <a:solidFill>
                  <a:srgbClr val="111111"/>
                </a:solidFill>
              </a:defRPr>
            </a:pPr>
            <a:r>
              <a:t>Macro headwinds: Fed caution, inflation concerns, and trade tensions</a:t>
            </a:r>
          </a:p>
          <a:p>
            <a:pPr>
              <a:defRPr sz="1800">
                <a:solidFill>
                  <a:srgbClr val="111111"/>
                </a:solidFill>
              </a:defRPr>
            </a:pPr>
            <a:r>
              <a:t>Recovery hinges on risk sentiment stabilization and renewed inflows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05739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Price Context: The Recent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Recent Peak: Above $120,000 (early November)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Current Level: Below $95,000 (as of mid-November)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Correction Magnitude: ~21% decline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Primary Driver: Short-term holder panic selling triggering cascading liquidations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Technical Signal: Breach of $100K psychological support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Five Root Causes of the Downturn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1. Panic Selling by Short-Term Holders (Accelerant)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2. Liquidity Crunch (Structural vulnerability)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3. Macroeconomic Uncertainty (Headwinds)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4. Institutional Buying Slowdown (Demand decline)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5. Technical Breakdowns &amp; Sentiment Shifts (Catalyst)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05739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Cause #1: Panic Selling by Short-Term 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Trigger: Rapid descent from $120K to $95K accelerated sell-offs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Mechanism: Short-term holders selling at losses → forced liquidations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Result: Cascading deleveraging amplifying the price decline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Long-Term Holders: Taking profits but NOT initiating mass distribution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Implication: Bull market structure not yet broken; accumulation possible at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05739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Cause #2: Liquidity Crunch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Market Depth Decline: $700M (October) → $535M (recent)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Impact: Reduced order book depth amplifies price volatility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Root Cause: Lower institutional spot buying + reduced retail engagement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Cascading Effect: Large sell orders move price more sharply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Risk Indicator: Thin liquidity increases likelihood of flash crashes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05739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Cause #3: Macroeconomic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Federal Reserve Caution: Reduced likelihood of interest rate cuts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Inflation Resilience: Unexpected strength pressures risk assets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Strong Dollar: Headwind for commodities and Bitcoin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Trade War Fears: US-China tensions suppress global risk appetite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Portfolio Rebalancing: Capital flows from high-risk (crypto) to safe-havens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Cause #4: Institutional Buying Slowdown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Critical Metric: Net institutional purchases now BELOW daily mined supply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First Occurrence: Not seen in 7 months (structural shift)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Implication: Large players not absorbing new Bitcoin coming to market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Supply Dynamics: Daily mined supply continues unchanged; demand reduced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Risk Factor: Deeper corrections likely if institutional cash reserves dwindle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Cause #5: Technical Breakdowns &amp;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Psychological Level Breach: $100,000 support level broken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Retail Panic: Quick exits below cost basis = forced selling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Derivatives Positioning: Options traders positioned for further downside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Sentiment Extremes: Fear indices at elevated levels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Self-Reinforcing: Negative sentiment triggers stop-loss cascades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Additional Context: On-Chain &amp; Seasonal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Seasonal Pattern: November historically strong; current dip may be mid-cycle reset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Halving Cycles: Post-halving volatility expected; consolidation phase normal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On-Chain Signals: Weak-hand capitulation (dormant → exchange wallets)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ETF Flows: Institutional inflows slowed; reduced demand signal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Positive Signal: Foundational investors NOT mass-exiting; selective capitulation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Path to Recovery: Required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✓ Stabilization of macroeconomic sentiment (Fed dovishness signals)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✓ Renewed institutional inflows resuming net positive purchases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✓ Liquidity recovery (market depth returning to $600M+ levels)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✓ Technical stabilization around support zones ($90K-$95K floor holds)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✓ Reduced fear sentiment (RSI and fear indices normalize)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05739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Conclusion: Multi-Factor Downturn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143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11111"/>
                </a:solidFill>
              </a:defRPr>
            </a:pPr>
            <a:r>
              <a:t>Root Cause: NOT a single factor, but convergence of five distinct drivers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Market Structure: Downturn reflects macro + structure + sentiment intersection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Forward Outlook: Recovery requires stabilization across all three domains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Near-Term: Capitulation by weak hands clearing leveraged positions</a:t>
            </a:r>
          </a:p>
          <a:p>
            <a:pPr>
              <a:defRPr sz="1700">
                <a:solidFill>
                  <a:srgbClr val="111111"/>
                </a:solidFill>
              </a:defRPr>
            </a:pPr>
            <a:r>
              <a:t>Strategic Implication: Healthy reset; potential consolidation before rebound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205739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